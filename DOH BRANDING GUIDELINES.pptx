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ontserrat"/>
      <p:regular r:id="rId25"/>
      <p:bold r:id="rId26"/>
      <p:italic r:id="rId27"/>
      <p:boldItalic r:id="rId28"/>
    </p:embeddedFont>
    <p:embeddedFont>
      <p:font typeface="Montserrat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hK9XQq3dkD1sNasT+ny6uK+rQY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italic.fntdata"/><Relationship Id="rId30" Type="http://schemas.openxmlformats.org/officeDocument/2006/relationships/font" Target="fonts/MontserratMedium-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Montserrat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Good morning everyone!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 lot of you might have seen our latest posts, be in BAC Procurement, Hiring, etc., that we have changed the color palette of our social media cards. </a:t>
            </a:r>
            <a:r>
              <a:rPr lang="en"/>
              <a:t>This is in line of the new official DOH Branding, from Calendar Year 2025-2028.</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Moreover, please be reminded that this branding was introduced by the COMS Office to CHDs, two weeks ago.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mandated by DM 2025-0600, this is the Department of </a:t>
            </a:r>
            <a:r>
              <a:rPr lang="en"/>
              <a:t>Health's</a:t>
            </a:r>
            <a:r>
              <a:rPr lang="en"/>
              <a:t> Corporate Brand and Visual Identity.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Moreover, Central Office will be very strict in the implementation of this branding, thus this matrix of violation and corrective measures.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Clear Space (Safe Area)</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blue shaded areas labeled SAFE AREA</a:t>
            </a:r>
            <a:r>
              <a:rPr lang="en">
                <a:solidFill>
                  <a:schemeClr val="dk1"/>
                </a:solidFill>
              </a:rPr>
              <a:t> represent the </a:t>
            </a:r>
            <a:r>
              <a:rPr b="1" lang="en">
                <a:solidFill>
                  <a:schemeClr val="dk1"/>
                </a:solidFill>
              </a:rPr>
              <a:t>minimum empty space that must surround the DOH seal</a:t>
            </a:r>
            <a:r>
              <a:rPr lang="en">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How the measurement works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guide uses the </a:t>
            </a:r>
            <a:r>
              <a:rPr b="1" lang="en">
                <a:solidFill>
                  <a:schemeClr val="dk1"/>
                </a:solidFill>
              </a:rPr>
              <a:t>height of the letter “P” in the word “Republic”</a:t>
            </a:r>
            <a:r>
              <a:rPr lang="en">
                <a:solidFill>
                  <a:schemeClr val="dk1"/>
                </a:solidFill>
              </a:rPr>
              <a:t> within the seal.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height is labeled </a:t>
            </a:r>
            <a:r>
              <a:rPr b="1" lang="en">
                <a:solidFill>
                  <a:schemeClr val="dk1"/>
                </a:solidFill>
              </a:rPr>
              <a:t>“x”</a:t>
            </a:r>
            <a:r>
              <a:rPr lang="en">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Required spacing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seal must have </a:t>
            </a:r>
            <a:r>
              <a:rPr b="1" lang="en">
                <a:solidFill>
                  <a:schemeClr val="dk1"/>
                </a:solidFill>
              </a:rPr>
              <a:t>at least 2x clear space on all sides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the height of the letter </a:t>
            </a:r>
            <a:r>
              <a:rPr b="1" lang="en">
                <a:solidFill>
                  <a:schemeClr val="dk1"/>
                </a:solidFill>
              </a:rPr>
              <a:t>P = 5 mm</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required space around the seal must be </a:t>
            </a:r>
            <a:r>
              <a:rPr b="1" lang="en">
                <a:solidFill>
                  <a:schemeClr val="dk1"/>
                </a:solidFill>
              </a:rPr>
              <a:t>10 mm on each side</a:t>
            </a:r>
            <a:r>
              <a:rPr lang="en">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this matters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clear space ensures: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seal </a:t>
            </a:r>
            <a:r>
              <a:rPr b="1" lang="en">
                <a:solidFill>
                  <a:schemeClr val="dk1"/>
                </a:solidFill>
              </a:rPr>
              <a:t>remains prominent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a:t>
            </a:r>
            <a:r>
              <a:rPr b="1" lang="en">
                <a:solidFill>
                  <a:schemeClr val="dk1"/>
                </a:solidFill>
              </a:rPr>
              <a:t>does not compete with other logos, text, or graphics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maintains </a:t>
            </a:r>
            <a:r>
              <a:rPr b="1" lang="en">
                <a:solidFill>
                  <a:schemeClr val="dk1"/>
                </a:solidFill>
              </a:rPr>
              <a:t>official integrity and readability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Inside the safe area, you </a:t>
            </a:r>
            <a:r>
              <a:rPr b="1" lang="en">
                <a:solidFill>
                  <a:schemeClr val="dk1"/>
                </a:solidFill>
              </a:rPr>
              <a:t>cannot place</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Text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Other logos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Shapes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Images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Borders</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2️⃣ Seal Variations (Color and Monochrome)</a:t>
            </a:r>
            <a:endParaRPr b="1" sz="1700">
              <a:solidFill>
                <a:schemeClr val="dk1"/>
              </a:solidFill>
            </a:endParaRPr>
          </a:p>
          <a:p>
            <a:pPr indent="0" lvl="0" marL="0" rtl="0" algn="l">
              <a:lnSpc>
                <a:spcPct val="115000"/>
              </a:lnSpc>
              <a:spcBef>
                <a:spcPts val="1200"/>
              </a:spcBef>
              <a:spcAft>
                <a:spcPts val="0"/>
              </a:spcAft>
              <a:buNone/>
            </a:pPr>
            <a:r>
              <a:rPr lang="en">
                <a:solidFill>
                  <a:schemeClr val="dk1"/>
                </a:solidFill>
              </a:rPr>
              <a:t>The right side shows </a:t>
            </a:r>
            <a:r>
              <a:rPr b="1" lang="en">
                <a:solidFill>
                  <a:schemeClr val="dk1"/>
                </a:solidFill>
              </a:rPr>
              <a:t>approved versions of the DOH seal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Full Color Version</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Used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Official publications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Posters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Social media graphics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Government reports</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Black / Monochrome Version</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Used when: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Printing in black and white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Engraving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Documents without color printing</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Grayscale Version</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Used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Photocopies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Low-color print environments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The faded example indicates </a:t>
            </a:r>
            <a:r>
              <a:rPr b="1" lang="en">
                <a:solidFill>
                  <a:schemeClr val="dk1"/>
                </a:solidFill>
              </a:rPr>
              <a:t>incorrect or discouraged use</a:t>
            </a:r>
            <a:r>
              <a:rPr lang="en">
                <a:solidFill>
                  <a:schemeClr val="dk1"/>
                </a:solidFill>
              </a:rPr>
              <a:t>, such 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Reduced opacity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Distorted appearance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Poor contrast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3️⃣ Minimum Size Requirement</a:t>
            </a:r>
            <a:endParaRPr b="1" sz="1700">
              <a:solidFill>
                <a:schemeClr val="dk1"/>
              </a:solidFill>
            </a:endParaRPr>
          </a:p>
          <a:p>
            <a:pPr indent="0" lvl="0" marL="0" rtl="0" algn="l">
              <a:lnSpc>
                <a:spcPct val="115000"/>
              </a:lnSpc>
              <a:spcBef>
                <a:spcPts val="1200"/>
              </a:spcBef>
              <a:spcAft>
                <a:spcPts val="0"/>
              </a:spcAft>
              <a:buNone/>
            </a:pPr>
            <a:r>
              <a:rPr lang="en">
                <a:solidFill>
                  <a:schemeClr val="dk1"/>
                </a:solidFill>
              </a:rPr>
              <a:t>To ensure the seal remains </a:t>
            </a:r>
            <a:r>
              <a:rPr b="1" lang="en">
                <a:solidFill>
                  <a:schemeClr val="dk1"/>
                </a:solidFill>
              </a:rPr>
              <a:t>readable and recognizable</a:t>
            </a:r>
            <a:r>
              <a:rPr lang="en">
                <a:solidFill>
                  <a:schemeClr val="dk1"/>
                </a:solidFill>
              </a:rPr>
              <a:t>, there are </a:t>
            </a:r>
            <a:r>
              <a:rPr b="1" lang="en">
                <a:solidFill>
                  <a:schemeClr val="dk1"/>
                </a:solidFill>
              </a:rPr>
              <a:t>minimum size limits</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For PRINT materials</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Minimum height:</a:t>
            </a:r>
            <a:br>
              <a:rPr lang="en">
                <a:solidFill>
                  <a:schemeClr val="dk1"/>
                </a:solidFill>
              </a:rPr>
            </a:br>
            <a:r>
              <a:rPr b="1" lang="en">
                <a:solidFill>
                  <a:schemeClr val="dk1"/>
                </a:solidFill>
              </a:rPr>
              <a:t>8 mm</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Examples: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Letterheads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Certificates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Printed reports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Tarpaulins</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For DIGITAL materials</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Minimum height:</a:t>
            </a:r>
            <a:br>
              <a:rPr lang="en">
                <a:solidFill>
                  <a:schemeClr val="dk1"/>
                </a:solidFill>
              </a:rPr>
            </a:br>
            <a:r>
              <a:rPr b="1" lang="en">
                <a:solidFill>
                  <a:schemeClr val="dk1"/>
                </a:solidFill>
              </a:rPr>
              <a:t>100 pixels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Examples: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PowerPoint presentations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Social media graphics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Website content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Digital posters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If the seal becomes </a:t>
            </a:r>
            <a:r>
              <a:rPr b="1" lang="en">
                <a:solidFill>
                  <a:schemeClr val="dk1"/>
                </a:solidFill>
              </a:rPr>
              <a:t>smaller than these limits</a:t>
            </a:r>
            <a:r>
              <a:rPr lang="en">
                <a:solidFill>
                  <a:schemeClr val="dk1"/>
                </a:solidFill>
              </a:rPr>
              <a:t>, the text and details (like the medical symbols) become </a:t>
            </a:r>
            <a:r>
              <a:rPr b="1" lang="en">
                <a:solidFill>
                  <a:schemeClr val="dk1"/>
                </a:solidFill>
              </a:rPr>
              <a:t>unclear</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4️⃣ Why These Rules Exist</a:t>
            </a:r>
            <a:endParaRPr b="1" sz="1700">
              <a:solidFill>
                <a:schemeClr val="dk1"/>
              </a:solidFill>
            </a:endParaRPr>
          </a:p>
          <a:p>
            <a:pPr indent="0" lvl="0" marL="0" rtl="0" algn="l">
              <a:lnSpc>
                <a:spcPct val="115000"/>
              </a:lnSpc>
              <a:spcBef>
                <a:spcPts val="1200"/>
              </a:spcBef>
              <a:spcAft>
                <a:spcPts val="0"/>
              </a:spcAft>
              <a:buNone/>
            </a:pPr>
            <a:r>
              <a:rPr lang="en">
                <a:solidFill>
                  <a:schemeClr val="dk1"/>
                </a:solidFill>
              </a:rPr>
              <a:t>Brand standards like these ensure: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Consistent government identity</a:t>
            </a:r>
            <a:br>
              <a:rPr lang="en">
                <a:solidFill>
                  <a:schemeClr val="dk1"/>
                </a:solidFill>
              </a:rPr>
            </a:br>
            <a:r>
              <a:rPr lang="en">
                <a:solidFill>
                  <a:schemeClr val="dk1"/>
                </a:solidFill>
              </a:rPr>
              <a:t>✔ Professional presentation</a:t>
            </a:r>
            <a:br>
              <a:rPr lang="en">
                <a:solidFill>
                  <a:schemeClr val="dk1"/>
                </a:solidFill>
              </a:rPr>
            </a:br>
            <a:r>
              <a:rPr lang="en">
                <a:solidFill>
                  <a:schemeClr val="dk1"/>
                </a:solidFill>
              </a:rPr>
              <a:t>✔ Protection of official seals</a:t>
            </a:r>
            <a:br>
              <a:rPr lang="en">
                <a:solidFill>
                  <a:schemeClr val="dk1"/>
                </a:solidFill>
              </a:rPr>
            </a:br>
            <a:r>
              <a:rPr lang="en">
                <a:solidFill>
                  <a:schemeClr val="dk1"/>
                </a:solidFill>
              </a:rPr>
              <a:t>✔ Avoidance of misuse or distortion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government agencies like the </a:t>
            </a:r>
            <a:r>
              <a:rPr b="1" lang="en">
                <a:solidFill>
                  <a:schemeClr val="dk1"/>
                </a:solidFill>
              </a:rPr>
              <a:t>Department of Health</a:t>
            </a:r>
            <a:r>
              <a:rPr lang="en">
                <a:solidFill>
                  <a:schemeClr val="dk1"/>
                </a:solidFill>
              </a:rPr>
              <a:t>, maintaining a consistent seal is important because it represents </a:t>
            </a:r>
            <a:r>
              <a:rPr b="1" lang="en">
                <a:solidFill>
                  <a:schemeClr val="dk1"/>
                </a:solidFill>
              </a:rPr>
              <a:t>official authority and authenticity</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In simple terms: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Keep </a:t>
            </a:r>
            <a:r>
              <a:rPr b="1" lang="en">
                <a:solidFill>
                  <a:schemeClr val="dk1"/>
                </a:solidFill>
              </a:rPr>
              <a:t>space around the seal</a:t>
            </a:r>
            <a:r>
              <a:rPr lang="en">
                <a:solidFill>
                  <a:schemeClr val="dk1"/>
                </a:solidFill>
              </a:rPr>
              <a:t> (2x rule).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a:t>
            </a:r>
            <a:r>
              <a:rPr b="1" lang="en">
                <a:solidFill>
                  <a:schemeClr val="dk1"/>
                </a:solidFill>
              </a:rPr>
              <a:t>approved color versions only</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 not make the seal </a:t>
            </a:r>
            <a:r>
              <a:rPr b="1" lang="en">
                <a:solidFill>
                  <a:schemeClr val="dk1"/>
                </a:solidFill>
              </a:rPr>
              <a:t>too small</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 not place </a:t>
            </a:r>
            <a:r>
              <a:rPr b="1" lang="en">
                <a:solidFill>
                  <a:schemeClr val="dk1"/>
                </a:solidFill>
              </a:rPr>
              <a:t>other elements inside its safe area</a:t>
            </a:r>
            <a:r>
              <a:rPr lang="en">
                <a:solidFill>
                  <a:schemeClr val="dk1"/>
                </a:solidFill>
              </a:rPr>
              <a:t>.</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Seal always </a:t>
            </a:r>
            <a:r>
              <a:rPr b="1" lang="en">
                <a:solidFill>
                  <a:schemeClr val="dk1"/>
                </a:solidFill>
              </a:rPr>
              <a:t>on the left</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Agency name </a:t>
            </a:r>
            <a:r>
              <a:rPr b="1" lang="en">
                <a:solidFill>
                  <a:schemeClr val="dk1"/>
                </a:solidFill>
              </a:rPr>
              <a:t>larger</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Use the </a:t>
            </a:r>
            <a:r>
              <a:rPr b="1" lang="en">
                <a:solidFill>
                  <a:schemeClr val="dk1"/>
                </a:solidFill>
              </a:rPr>
              <a:t>correct color version depending on background</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Follow </a:t>
            </a:r>
            <a:r>
              <a:rPr b="1" lang="en">
                <a:solidFill>
                  <a:schemeClr val="dk1"/>
                </a:solidFill>
              </a:rPr>
              <a:t>proper spacing and alignment</a:t>
            </a:r>
            <a:endParaRPr b="1">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used primarily with our presentations, social media graphics.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deck templates and event certificates, the following updates have been made.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Same with our lanyards and IDs, the blue one is for the COS, the green one is for plantilla, and the gray to white gradient is for GIP.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These are our NATIONAL UNIFIED CAMPAIGNS. You will be seeing more of this with our postings.</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200"/>
              </a:spcBef>
              <a:spcAft>
                <a:spcPts val="0"/>
              </a:spcAft>
              <a:buSzPts val="1100"/>
              <a:buNone/>
            </a:pPr>
            <a:r>
              <a:rPr lang="en" sz="1200">
                <a:solidFill>
                  <a:srgbClr val="231F20"/>
                </a:solidFill>
                <a:latin typeface="Montserrat"/>
                <a:ea typeface="Montserrat"/>
                <a:cs typeface="Montserrat"/>
                <a:sym typeface="Montserrat"/>
              </a:rPr>
              <a:t>The PinaSigla focuses on the Health Promotion Framework Strategy’s seven priority areas. These are the pillars upon which health promotion efforts for improving health outcomes are centered.</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SzPts val="1100"/>
              <a:buNone/>
            </a:pPr>
            <a:r>
              <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SzPts val="1100"/>
              <a:buNone/>
            </a:pPr>
            <a:r>
              <a:rPr lang="en" sz="1200">
                <a:solidFill>
                  <a:srgbClr val="231F20"/>
                </a:solidFill>
                <a:latin typeface="Montserrat"/>
                <a:ea typeface="Montserrat"/>
                <a:cs typeface="Montserrat"/>
                <a:sym typeface="Montserrat"/>
              </a:rPr>
              <a:t>Zero Balance Billing ensures that all expenses of patients admitted in the basic accommodation in DOH-retained hospitals are covered. This currently applies to 87 DOH-retained hospitals.</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 sz="1200">
                <a:solidFill>
                  <a:srgbClr val="231F20"/>
                </a:solidFill>
                <a:latin typeface="Montserrat"/>
                <a:ea typeface="Montserrat"/>
                <a:cs typeface="Montserrat"/>
                <a:sym typeface="Montserrat"/>
              </a:rPr>
              <a:t>The Tsek ‘Yan campaign encourages Filipinos to get the care they need to avoid negative health outcomes in the future. It primarily targets for the general public to know what services are under primary care and who provides these services.</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 sz="1200">
                <a:solidFill>
                  <a:srgbClr val="231F20"/>
                </a:solidFill>
                <a:latin typeface="Montserrat"/>
                <a:ea typeface="Montserrat"/>
                <a:cs typeface="Montserrat"/>
                <a:sym typeface="Montserrat"/>
              </a:rPr>
              <a:t>The PuroKalusugan initiative is a community-based approach to healthcare service delivery. Through this approach, the DOH aims to strengthen service delivery of health services all the way down to the purok level, accelerating the realization of Universal Health Care (UHC)'s goal of providing equitable healthcare access to all Filipinos.</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 sz="1200">
                <a:solidFill>
                  <a:srgbClr val="231F20"/>
                </a:solidFill>
                <a:latin typeface="Montserrat"/>
                <a:ea typeface="Montserrat"/>
                <a:cs typeface="Montserrat"/>
                <a:sym typeface="Montserrat"/>
              </a:rPr>
              <a:t>Bagong Urgent Care and Ambulatory Services (BUCAS) Centers - BUCAS Centers seek to ensure that all Filipinos are guaranteed equitable access to quality and affordable health care goods and services.</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 sz="1200">
                <a:solidFill>
                  <a:srgbClr val="231F20"/>
                </a:solidFill>
                <a:latin typeface="Montserrat"/>
                <a:ea typeface="Montserrat"/>
                <a:cs typeface="Montserrat"/>
                <a:sym typeface="Montserrat"/>
              </a:rPr>
              <a:t>The BUCAS Centers offer a comprehensive range of preventive, diagnostic, and curative services for primary care that will address outpatient urgent and ambulatory concerns, providing a one-stop shop for patients seeking health services while also being part of a referral network.</a:t>
            </a:r>
            <a:endParaRPr sz="1200">
              <a:solidFill>
                <a:srgbClr val="231F20"/>
              </a:solidFill>
              <a:latin typeface="Montserrat"/>
              <a:ea typeface="Montserrat"/>
              <a:cs typeface="Montserrat"/>
              <a:sym typeface="Montserrat"/>
            </a:endParaRPr>
          </a:p>
          <a:p>
            <a:pPr indent="0" lvl="0" marL="0" rtl="0" algn="l">
              <a:lnSpc>
                <a:spcPct val="115000"/>
              </a:lnSpc>
              <a:spcBef>
                <a:spcPts val="1200"/>
              </a:spcBef>
              <a:spcAft>
                <a:spcPts val="1200"/>
              </a:spcAft>
              <a:buSzPts val="1100"/>
              <a:buNone/>
            </a:pPr>
            <a:r>
              <a:rPr lang="en" sz="1200">
                <a:solidFill>
                  <a:srgbClr val="231F20"/>
                </a:solidFill>
                <a:latin typeface="Montserrat"/>
                <a:ea typeface="Montserrat"/>
                <a:cs typeface="Montserrat"/>
                <a:sym typeface="Montserrat"/>
              </a:rPr>
              <a:t>The DOH It Now is the official campaign handle of the Department’s Tiktok account. It aims to reinforce the importance of preventive health and disease prevention through engaging content.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1"/>
          <p:cNvSpPr txBox="1"/>
          <p:nvPr>
            <p:ph type="ctrTitle"/>
          </p:nvPr>
        </p:nvSpPr>
        <p:spPr>
          <a:xfrm>
            <a:off x="469458" y="78152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4.jpg"/><Relationship Id="rId7"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22.png"/><Relationship Id="rId8"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
          <p:cNvSpPr txBox="1"/>
          <p:nvPr/>
        </p:nvSpPr>
        <p:spPr>
          <a:xfrm>
            <a:off x="238213" y="1300650"/>
            <a:ext cx="8757501" cy="127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EEFAF6"/>
                </a:solidFill>
                <a:latin typeface="Montserrat"/>
                <a:ea typeface="Montserrat"/>
                <a:cs typeface="Montserrat"/>
                <a:sym typeface="Montserrat"/>
              </a:rPr>
              <a:t>OFFICIAL DOH</a:t>
            </a:r>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EEFAF6"/>
                </a:solidFill>
                <a:latin typeface="Montserrat"/>
                <a:ea typeface="Montserrat"/>
                <a:cs typeface="Montserrat"/>
                <a:sym typeface="Montserrat"/>
              </a:rPr>
              <a:t>BRANDING GUIDELINES</a:t>
            </a:r>
            <a:endParaRPr b="1" i="0" sz="4800" u="none" cap="none" strike="noStrike">
              <a:solidFill>
                <a:srgbClr val="EEFAF6"/>
              </a:solidFill>
              <a:latin typeface="Montserrat"/>
              <a:ea typeface="Montserrat"/>
              <a:cs typeface="Montserrat"/>
              <a:sym typeface="Montserrat"/>
            </a:endParaRPr>
          </a:p>
        </p:txBody>
      </p:sp>
      <p:sp>
        <p:nvSpPr>
          <p:cNvPr id="55" name="Google Shape;55;p1"/>
          <p:cNvSpPr/>
          <p:nvPr/>
        </p:nvSpPr>
        <p:spPr>
          <a:xfrm>
            <a:off x="2909924" y="3153687"/>
            <a:ext cx="3181500" cy="452100"/>
          </a:xfrm>
          <a:prstGeom prst="roundRect">
            <a:avLst>
              <a:gd fmla="val 50000" name="adj"/>
            </a:avLst>
          </a:prstGeom>
          <a:solidFill>
            <a:srgbClr val="EEFAF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
          <p:cNvSpPr txBox="1"/>
          <p:nvPr/>
        </p:nvSpPr>
        <p:spPr>
          <a:xfrm>
            <a:off x="2815574" y="3173333"/>
            <a:ext cx="3370200" cy="358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385276"/>
                </a:solidFill>
                <a:latin typeface="Montserrat Medium"/>
                <a:ea typeface="Montserrat Medium"/>
                <a:cs typeface="Montserrat Medium"/>
                <a:sym typeface="Montserrat Medium"/>
              </a:rPr>
              <a:t>MARCH 9, 2026 – DOH WV CHD</a:t>
            </a:r>
            <a:endParaRPr b="0" i="0" sz="1400" u="none" cap="none" strike="noStrike">
              <a:solidFill>
                <a:srgbClr val="385276"/>
              </a:solidFill>
              <a:latin typeface="Montserrat Medium"/>
              <a:ea typeface="Montserrat Medium"/>
              <a:cs typeface="Montserrat Medium"/>
              <a:sym typeface="Montserrat Medium"/>
            </a:endParaRPr>
          </a:p>
        </p:txBody>
      </p:sp>
      <p:pic>
        <p:nvPicPr>
          <p:cNvPr id="57" name="Google Shape;57;p1" title="DOH Logo.png"/>
          <p:cNvPicPr preferRelativeResize="0"/>
          <p:nvPr/>
        </p:nvPicPr>
        <p:blipFill rotWithShape="1">
          <a:blip r:embed="rId4">
            <a:alphaModFix/>
          </a:blip>
          <a:srcRect b="0" l="0" r="0" t="0"/>
          <a:stretch/>
        </p:blipFill>
        <p:spPr>
          <a:xfrm>
            <a:off x="3797875" y="434775"/>
            <a:ext cx="702799" cy="702799"/>
          </a:xfrm>
          <a:prstGeom prst="rect">
            <a:avLst/>
          </a:prstGeom>
          <a:noFill/>
          <a:ln>
            <a:noFill/>
          </a:ln>
        </p:spPr>
      </p:pic>
      <p:pic>
        <p:nvPicPr>
          <p:cNvPr id="58" name="Google Shape;58;p1" title="bagong-pilipinas white.png"/>
          <p:cNvPicPr preferRelativeResize="0"/>
          <p:nvPr/>
        </p:nvPicPr>
        <p:blipFill rotWithShape="1">
          <a:blip r:embed="rId5">
            <a:alphaModFix/>
          </a:blip>
          <a:srcRect b="0" l="0" r="0" t="0"/>
          <a:stretch/>
        </p:blipFill>
        <p:spPr>
          <a:xfrm>
            <a:off x="4616964" y="395396"/>
            <a:ext cx="734134" cy="7647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grpSp>
        <p:nvGrpSpPr>
          <p:cNvPr id="63" name="Google Shape;63;p2"/>
          <p:cNvGrpSpPr/>
          <p:nvPr/>
        </p:nvGrpSpPr>
        <p:grpSpPr>
          <a:xfrm>
            <a:off x="4922100" y="1436634"/>
            <a:ext cx="3903848" cy="1920591"/>
            <a:chOff x="4922100" y="1436634"/>
            <a:chExt cx="3903848" cy="1920591"/>
          </a:xfrm>
        </p:grpSpPr>
        <p:sp>
          <p:nvSpPr>
            <p:cNvPr id="64" name="Google Shape;64;p2"/>
            <p:cNvSpPr txBox="1"/>
            <p:nvPr/>
          </p:nvSpPr>
          <p:spPr>
            <a:xfrm>
              <a:off x="4922100" y="2135325"/>
              <a:ext cx="3067800" cy="122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EFAF6"/>
                  </a:solidFill>
                  <a:latin typeface="Montserrat"/>
                  <a:ea typeface="Montserrat"/>
                  <a:cs typeface="Montserrat"/>
                  <a:sym typeface="Montserrat"/>
                </a:rPr>
                <a:t>Department of Health’s Corporate Brand and Visual Identity 2025-2028</a:t>
              </a:r>
              <a:endParaRPr b="0" i="0" sz="1200" u="none" cap="none" strike="noStrike">
                <a:solidFill>
                  <a:srgbClr val="EEFAF6"/>
                </a:solidFill>
                <a:latin typeface="Montserrat"/>
                <a:ea typeface="Montserrat"/>
                <a:cs typeface="Montserrat"/>
                <a:sym typeface="Montserrat"/>
              </a:endParaRPr>
            </a:p>
          </p:txBody>
        </p:sp>
        <p:sp>
          <p:nvSpPr>
            <p:cNvPr id="65" name="Google Shape;65;p2"/>
            <p:cNvSpPr txBox="1"/>
            <p:nvPr/>
          </p:nvSpPr>
          <p:spPr>
            <a:xfrm>
              <a:off x="4922100" y="1436634"/>
              <a:ext cx="3903848" cy="55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EEFAF6"/>
                  </a:solidFill>
                  <a:latin typeface="Montserrat Medium"/>
                  <a:ea typeface="Montserrat Medium"/>
                  <a:cs typeface="Montserrat Medium"/>
                  <a:sym typeface="Montserrat Medium"/>
                </a:rPr>
                <a:t>DEPARTMENT MEMORANDUM</a:t>
              </a:r>
              <a:endParaRPr b="0" i="0" sz="1800" u="none" cap="none" strike="noStrike">
                <a:solidFill>
                  <a:srgbClr val="EEFAF6"/>
                </a:solidFill>
                <a:latin typeface="Montserrat Medium"/>
                <a:ea typeface="Montserrat Medium"/>
                <a:cs typeface="Montserrat Medium"/>
                <a:sym typeface="Montserrat Medium"/>
              </a:endParaRPr>
            </a:p>
          </p:txBody>
        </p:sp>
        <p:sp>
          <p:nvSpPr>
            <p:cNvPr id="66" name="Google Shape;66;p2"/>
            <p:cNvSpPr txBox="1"/>
            <p:nvPr/>
          </p:nvSpPr>
          <p:spPr>
            <a:xfrm>
              <a:off x="4922100" y="1758841"/>
              <a:ext cx="2291400" cy="55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EEFAF6"/>
                  </a:solidFill>
                  <a:latin typeface="Montserrat"/>
                  <a:ea typeface="Montserrat"/>
                  <a:cs typeface="Montserrat"/>
                  <a:sym typeface="Montserrat"/>
                </a:rPr>
                <a:t>No. 2025-0600</a:t>
              </a:r>
              <a:endParaRPr b="0" i="0" sz="1600" u="none" cap="none" strike="noStrike">
                <a:solidFill>
                  <a:srgbClr val="EEFAF6"/>
                </a:solidFill>
                <a:latin typeface="Montserrat"/>
                <a:ea typeface="Montserrat"/>
                <a:cs typeface="Montserrat"/>
                <a:sym typeface="Montserrat"/>
              </a:endParaRPr>
            </a:p>
          </p:txBody>
        </p:sp>
      </p:grpSp>
      <p:grpSp>
        <p:nvGrpSpPr>
          <p:cNvPr id="67" name="Google Shape;67;p2"/>
          <p:cNvGrpSpPr/>
          <p:nvPr/>
        </p:nvGrpSpPr>
        <p:grpSpPr>
          <a:xfrm>
            <a:off x="352020" y="326754"/>
            <a:ext cx="841256" cy="422523"/>
            <a:chOff x="3824939" y="1304250"/>
            <a:chExt cx="1522636" cy="764747"/>
          </a:xfrm>
        </p:grpSpPr>
        <p:pic>
          <p:nvPicPr>
            <p:cNvPr id="68" name="Google Shape;68;p2" title="Asset 5.png"/>
            <p:cNvPicPr preferRelativeResize="0"/>
            <p:nvPr/>
          </p:nvPicPr>
          <p:blipFill rotWithShape="1">
            <a:blip r:embed="rId4">
              <a:alphaModFix/>
            </a:blip>
            <a:srcRect b="0" l="0" r="0" t="0"/>
            <a:stretch/>
          </p:blipFill>
          <p:spPr>
            <a:xfrm>
              <a:off x="4618676" y="1304250"/>
              <a:ext cx="728899" cy="764747"/>
            </a:xfrm>
            <a:prstGeom prst="rect">
              <a:avLst/>
            </a:prstGeom>
            <a:noFill/>
            <a:ln>
              <a:noFill/>
            </a:ln>
          </p:spPr>
        </p:pic>
        <p:pic>
          <p:nvPicPr>
            <p:cNvPr id="69" name="Google Shape;69;p2" title="Asset 6.png"/>
            <p:cNvPicPr preferRelativeResize="0"/>
            <p:nvPr/>
          </p:nvPicPr>
          <p:blipFill rotWithShape="1">
            <a:blip r:embed="rId5">
              <a:alphaModFix/>
            </a:blip>
            <a:srcRect b="0" l="0" r="0" t="0"/>
            <a:stretch/>
          </p:blipFill>
          <p:spPr>
            <a:xfrm>
              <a:off x="3824939" y="1346072"/>
              <a:ext cx="681103" cy="681103"/>
            </a:xfrm>
            <a:prstGeom prst="rect">
              <a:avLst/>
            </a:prstGeom>
            <a:noFill/>
            <a:ln>
              <a:noFill/>
            </a:ln>
          </p:spPr>
        </p:pic>
      </p:grpSp>
      <p:pic>
        <p:nvPicPr>
          <p:cNvPr id="70" name="Google Shape;70;p2"/>
          <p:cNvPicPr preferRelativeResize="0"/>
          <p:nvPr/>
        </p:nvPicPr>
        <p:blipFill rotWithShape="1">
          <a:blip r:embed="rId6">
            <a:alphaModFix/>
          </a:blip>
          <a:srcRect b="0" l="0" r="0" t="0"/>
          <a:stretch/>
        </p:blipFill>
        <p:spPr>
          <a:xfrm>
            <a:off x="1379164" y="349861"/>
            <a:ext cx="3161031" cy="4507396"/>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grpSp>
        <p:nvGrpSpPr>
          <p:cNvPr id="75" name="Google Shape;75;p3"/>
          <p:cNvGrpSpPr/>
          <p:nvPr/>
        </p:nvGrpSpPr>
        <p:grpSpPr>
          <a:xfrm>
            <a:off x="352015" y="326760"/>
            <a:ext cx="841249" cy="422523"/>
            <a:chOff x="3824939" y="392811"/>
            <a:chExt cx="1522624" cy="764747"/>
          </a:xfrm>
        </p:grpSpPr>
        <p:pic>
          <p:nvPicPr>
            <p:cNvPr id="76" name="Google Shape;76;p3"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77" name="Google Shape;77;p3"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78" name="Google Shape;78;p3"/>
          <p:cNvPicPr preferRelativeResize="0"/>
          <p:nvPr/>
        </p:nvPicPr>
        <p:blipFill rotWithShape="1">
          <a:blip r:embed="rId6">
            <a:alphaModFix/>
          </a:blip>
          <a:srcRect b="0" l="0" r="0" t="0"/>
          <a:stretch/>
        </p:blipFill>
        <p:spPr>
          <a:xfrm>
            <a:off x="1494582" y="923828"/>
            <a:ext cx="2747574" cy="3935714"/>
          </a:xfrm>
          <a:prstGeom prst="rect">
            <a:avLst/>
          </a:prstGeom>
          <a:noFill/>
          <a:ln>
            <a:noFill/>
          </a:ln>
          <a:effectLst>
            <a:outerShdw blurRad="292100" rotWithShape="0" algn="tl" dir="2700000" dist="139700">
              <a:srgbClr val="333333">
                <a:alpha val="65098"/>
              </a:srgbClr>
            </a:outerShdw>
          </a:effectLst>
        </p:spPr>
      </p:pic>
      <p:pic>
        <p:nvPicPr>
          <p:cNvPr id="79" name="Google Shape;79;p3"/>
          <p:cNvPicPr preferRelativeResize="0"/>
          <p:nvPr/>
        </p:nvPicPr>
        <p:blipFill rotWithShape="1">
          <a:blip r:embed="rId7">
            <a:alphaModFix/>
          </a:blip>
          <a:srcRect b="8264" l="5075" r="0" t="0"/>
          <a:stretch/>
        </p:blipFill>
        <p:spPr>
          <a:xfrm>
            <a:off x="4901845" y="923828"/>
            <a:ext cx="2881457" cy="3935714"/>
          </a:xfrm>
          <a:prstGeom prst="rect">
            <a:avLst/>
          </a:prstGeom>
          <a:noFill/>
          <a:ln>
            <a:noFill/>
          </a:ln>
          <a:effectLst>
            <a:outerShdw blurRad="292100" rotWithShape="0" algn="tl" dir="2700000" dist="139700">
              <a:srgbClr val="333333">
                <a:alpha val="65098"/>
              </a:srgbClr>
            </a:outerShdw>
          </a:effectLst>
        </p:spPr>
      </p:pic>
      <p:sp>
        <p:nvSpPr>
          <p:cNvPr id="80" name="Google Shape;80;p3"/>
          <p:cNvSpPr txBox="1"/>
          <p:nvPr/>
        </p:nvSpPr>
        <p:spPr>
          <a:xfrm>
            <a:off x="1706251" y="326810"/>
            <a:ext cx="5594375" cy="55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EEFAF6"/>
                </a:solidFill>
                <a:latin typeface="Montserrat Medium"/>
                <a:ea typeface="Montserrat Medium"/>
                <a:cs typeface="Montserrat Medium"/>
                <a:sym typeface="Montserrat Medium"/>
              </a:rPr>
              <a:t>Non – Compliance to Branding Guidelines</a:t>
            </a:r>
            <a:endParaRPr b="0" i="0" sz="1800" u="none" cap="none" strike="noStrike">
              <a:solidFill>
                <a:srgbClr val="EEFAF6"/>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grpSp>
        <p:nvGrpSpPr>
          <p:cNvPr id="85" name="Google Shape;85;p4"/>
          <p:cNvGrpSpPr/>
          <p:nvPr/>
        </p:nvGrpSpPr>
        <p:grpSpPr>
          <a:xfrm>
            <a:off x="352015" y="326760"/>
            <a:ext cx="841249" cy="422523"/>
            <a:chOff x="3824939" y="392811"/>
            <a:chExt cx="1522624" cy="764747"/>
          </a:xfrm>
        </p:grpSpPr>
        <p:pic>
          <p:nvPicPr>
            <p:cNvPr id="86" name="Google Shape;86;p4"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87" name="Google Shape;87;p4"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88" name="Google Shape;88;p4"/>
          <p:cNvPicPr preferRelativeResize="0"/>
          <p:nvPr/>
        </p:nvPicPr>
        <p:blipFill rotWithShape="1">
          <a:blip r:embed="rId6">
            <a:alphaModFix/>
          </a:blip>
          <a:srcRect b="19813" l="15728" r="4715" t="16862"/>
          <a:stretch/>
        </p:blipFill>
        <p:spPr>
          <a:xfrm>
            <a:off x="970961" y="848160"/>
            <a:ext cx="7390614" cy="3808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grpSp>
        <p:nvGrpSpPr>
          <p:cNvPr id="93" name="Google Shape;93;p5"/>
          <p:cNvGrpSpPr/>
          <p:nvPr/>
        </p:nvGrpSpPr>
        <p:grpSpPr>
          <a:xfrm>
            <a:off x="352015" y="326760"/>
            <a:ext cx="841249" cy="422523"/>
            <a:chOff x="3824939" y="392811"/>
            <a:chExt cx="1522624" cy="764747"/>
          </a:xfrm>
        </p:grpSpPr>
        <p:pic>
          <p:nvPicPr>
            <p:cNvPr id="94" name="Google Shape;94;p5"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95" name="Google Shape;95;p5"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96" name="Google Shape;96;p5"/>
          <p:cNvPicPr preferRelativeResize="0"/>
          <p:nvPr/>
        </p:nvPicPr>
        <p:blipFill rotWithShape="1">
          <a:blip r:embed="rId6">
            <a:alphaModFix/>
          </a:blip>
          <a:srcRect b="15317" l="15939" r="4255" t="10867"/>
          <a:stretch/>
        </p:blipFill>
        <p:spPr>
          <a:xfrm>
            <a:off x="1363976" y="538021"/>
            <a:ext cx="6989476" cy="41851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grpSp>
        <p:nvGrpSpPr>
          <p:cNvPr id="101" name="Google Shape;101;p6"/>
          <p:cNvGrpSpPr/>
          <p:nvPr/>
        </p:nvGrpSpPr>
        <p:grpSpPr>
          <a:xfrm>
            <a:off x="352015" y="326760"/>
            <a:ext cx="841249" cy="422523"/>
            <a:chOff x="3824939" y="392811"/>
            <a:chExt cx="1522624" cy="764747"/>
          </a:xfrm>
        </p:grpSpPr>
        <p:pic>
          <p:nvPicPr>
            <p:cNvPr id="102" name="Google Shape;102;p6"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03" name="Google Shape;103;p6"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04" name="Google Shape;104;p6"/>
          <p:cNvPicPr preferRelativeResize="0"/>
          <p:nvPr/>
        </p:nvPicPr>
        <p:blipFill rotWithShape="1">
          <a:blip r:embed="rId6">
            <a:alphaModFix/>
          </a:blip>
          <a:srcRect b="23186" l="18244" r="6317" t="21920"/>
          <a:stretch/>
        </p:blipFill>
        <p:spPr>
          <a:xfrm>
            <a:off x="790548" y="946348"/>
            <a:ext cx="7756812" cy="36539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grpSp>
        <p:nvGrpSpPr>
          <p:cNvPr id="109" name="Google Shape;109;p7"/>
          <p:cNvGrpSpPr/>
          <p:nvPr/>
        </p:nvGrpSpPr>
        <p:grpSpPr>
          <a:xfrm>
            <a:off x="352015" y="326760"/>
            <a:ext cx="841249" cy="422523"/>
            <a:chOff x="3824939" y="392811"/>
            <a:chExt cx="1522624" cy="764747"/>
          </a:xfrm>
        </p:grpSpPr>
        <p:pic>
          <p:nvPicPr>
            <p:cNvPr id="110" name="Google Shape;110;p7"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11" name="Google Shape;111;p7"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12" name="Google Shape;112;p7"/>
          <p:cNvPicPr preferRelativeResize="0"/>
          <p:nvPr/>
        </p:nvPicPr>
        <p:blipFill rotWithShape="1">
          <a:blip r:embed="rId6">
            <a:alphaModFix/>
          </a:blip>
          <a:srcRect b="15692" l="13999" r="5104" t="19672"/>
          <a:stretch/>
        </p:blipFill>
        <p:spPr>
          <a:xfrm>
            <a:off x="866125" y="825657"/>
            <a:ext cx="7580292" cy="39208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grpSp>
        <p:nvGrpSpPr>
          <p:cNvPr id="117" name="Google Shape;117;p8"/>
          <p:cNvGrpSpPr/>
          <p:nvPr/>
        </p:nvGrpSpPr>
        <p:grpSpPr>
          <a:xfrm>
            <a:off x="352015" y="326760"/>
            <a:ext cx="841249" cy="422523"/>
            <a:chOff x="3824939" y="392811"/>
            <a:chExt cx="1522624" cy="764747"/>
          </a:xfrm>
        </p:grpSpPr>
        <p:pic>
          <p:nvPicPr>
            <p:cNvPr id="118" name="Google Shape;118;p8"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19" name="Google Shape;119;p8"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20" name="Google Shape;120;p8"/>
          <p:cNvPicPr preferRelativeResize="0"/>
          <p:nvPr/>
        </p:nvPicPr>
        <p:blipFill rotWithShape="1">
          <a:blip r:embed="rId6">
            <a:alphaModFix/>
          </a:blip>
          <a:srcRect b="22436" l="17273" r="7529" t="16487"/>
          <a:stretch/>
        </p:blipFill>
        <p:spPr>
          <a:xfrm>
            <a:off x="894242" y="840115"/>
            <a:ext cx="7562904" cy="3976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grpSp>
        <p:nvGrpSpPr>
          <p:cNvPr id="125" name="Google Shape;125;p9"/>
          <p:cNvGrpSpPr/>
          <p:nvPr/>
        </p:nvGrpSpPr>
        <p:grpSpPr>
          <a:xfrm>
            <a:off x="352015" y="326760"/>
            <a:ext cx="841249" cy="422523"/>
            <a:chOff x="3824939" y="392811"/>
            <a:chExt cx="1522624" cy="764747"/>
          </a:xfrm>
        </p:grpSpPr>
        <p:pic>
          <p:nvPicPr>
            <p:cNvPr id="126" name="Google Shape;126;p9"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27" name="Google Shape;127;p9"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28" name="Google Shape;128;p9"/>
          <p:cNvPicPr preferRelativeResize="0"/>
          <p:nvPr/>
        </p:nvPicPr>
        <p:blipFill rotWithShape="1">
          <a:blip r:embed="rId6">
            <a:alphaModFix/>
          </a:blip>
          <a:srcRect b="17003" l="17879" r="7651" t="14432"/>
          <a:stretch/>
        </p:blipFill>
        <p:spPr>
          <a:xfrm>
            <a:off x="1336996" y="538021"/>
            <a:ext cx="7016456" cy="41820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grpSp>
        <p:nvGrpSpPr>
          <p:cNvPr id="133" name="Google Shape;133;p10"/>
          <p:cNvGrpSpPr/>
          <p:nvPr/>
        </p:nvGrpSpPr>
        <p:grpSpPr>
          <a:xfrm>
            <a:off x="352015" y="326760"/>
            <a:ext cx="841249" cy="422523"/>
            <a:chOff x="3824939" y="392811"/>
            <a:chExt cx="1522624" cy="764747"/>
          </a:xfrm>
        </p:grpSpPr>
        <p:pic>
          <p:nvPicPr>
            <p:cNvPr id="134" name="Google Shape;134;p10"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35" name="Google Shape;135;p10"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36" name="Google Shape;136;p10"/>
          <p:cNvPicPr preferRelativeResize="0"/>
          <p:nvPr/>
        </p:nvPicPr>
        <p:blipFill rotWithShape="1">
          <a:blip r:embed="rId6">
            <a:alphaModFix/>
          </a:blip>
          <a:srcRect b="24685" l="17638" r="11653" t="25855"/>
          <a:stretch/>
        </p:blipFill>
        <p:spPr>
          <a:xfrm>
            <a:off x="608225" y="963313"/>
            <a:ext cx="7927547" cy="35898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grpSp>
        <p:nvGrpSpPr>
          <p:cNvPr id="141" name="Google Shape;141;p11"/>
          <p:cNvGrpSpPr/>
          <p:nvPr/>
        </p:nvGrpSpPr>
        <p:grpSpPr>
          <a:xfrm>
            <a:off x="352015" y="326760"/>
            <a:ext cx="841249" cy="422523"/>
            <a:chOff x="3824939" y="392811"/>
            <a:chExt cx="1522624" cy="764747"/>
          </a:xfrm>
        </p:grpSpPr>
        <p:pic>
          <p:nvPicPr>
            <p:cNvPr id="142" name="Google Shape;142;p11"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43" name="Google Shape;143;p11"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44" name="Google Shape;144;p11"/>
          <p:cNvPicPr preferRelativeResize="0"/>
          <p:nvPr/>
        </p:nvPicPr>
        <p:blipFill rotWithShape="1">
          <a:blip r:embed="rId6">
            <a:alphaModFix/>
          </a:blip>
          <a:srcRect b="17940" l="17880" r="4255" t="25480"/>
          <a:stretch/>
        </p:blipFill>
        <p:spPr>
          <a:xfrm>
            <a:off x="478770" y="942680"/>
            <a:ext cx="8186460" cy="385095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grpSp>
        <p:nvGrpSpPr>
          <p:cNvPr id="149" name="Google Shape;149;p12"/>
          <p:cNvGrpSpPr/>
          <p:nvPr/>
        </p:nvGrpSpPr>
        <p:grpSpPr>
          <a:xfrm>
            <a:off x="352015" y="326760"/>
            <a:ext cx="841249" cy="422523"/>
            <a:chOff x="3824939" y="392811"/>
            <a:chExt cx="1522624" cy="764747"/>
          </a:xfrm>
        </p:grpSpPr>
        <p:pic>
          <p:nvPicPr>
            <p:cNvPr id="150" name="Google Shape;150;p12"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51" name="Google Shape;151;p12"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52" name="Google Shape;152;p12"/>
          <p:cNvPicPr preferRelativeResize="0"/>
          <p:nvPr/>
        </p:nvPicPr>
        <p:blipFill rotWithShape="1">
          <a:blip r:embed="rId6">
            <a:alphaModFix/>
          </a:blip>
          <a:srcRect b="22249" l="17879" r="7165" t="23419"/>
          <a:stretch/>
        </p:blipFill>
        <p:spPr>
          <a:xfrm>
            <a:off x="518053" y="963162"/>
            <a:ext cx="8107893" cy="38046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grpSp>
        <p:nvGrpSpPr>
          <p:cNvPr id="157" name="Google Shape;157;p13"/>
          <p:cNvGrpSpPr/>
          <p:nvPr/>
        </p:nvGrpSpPr>
        <p:grpSpPr>
          <a:xfrm>
            <a:off x="352015" y="326760"/>
            <a:ext cx="841249" cy="422523"/>
            <a:chOff x="3824939" y="392811"/>
            <a:chExt cx="1522624" cy="764747"/>
          </a:xfrm>
        </p:grpSpPr>
        <p:pic>
          <p:nvPicPr>
            <p:cNvPr id="158" name="Google Shape;158;p13"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59" name="Google Shape;159;p13"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60" name="Google Shape;160;p13"/>
          <p:cNvPicPr preferRelativeResize="0"/>
          <p:nvPr/>
        </p:nvPicPr>
        <p:blipFill rotWithShape="1">
          <a:blip r:embed="rId6">
            <a:alphaModFix/>
          </a:blip>
          <a:srcRect b="25247" l="18121" r="8865" t="27166"/>
          <a:stretch/>
        </p:blipFill>
        <p:spPr>
          <a:xfrm>
            <a:off x="1064264" y="1206631"/>
            <a:ext cx="7015472" cy="29600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grpSp>
        <p:nvGrpSpPr>
          <p:cNvPr id="165" name="Google Shape;165;p14"/>
          <p:cNvGrpSpPr/>
          <p:nvPr/>
        </p:nvGrpSpPr>
        <p:grpSpPr>
          <a:xfrm>
            <a:off x="352015" y="326760"/>
            <a:ext cx="841249" cy="422523"/>
            <a:chOff x="3824939" y="392811"/>
            <a:chExt cx="1522624" cy="764747"/>
          </a:xfrm>
        </p:grpSpPr>
        <p:pic>
          <p:nvPicPr>
            <p:cNvPr id="166" name="Google Shape;166;p14"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67" name="Google Shape;167;p14"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68" name="Google Shape;168;p14"/>
          <p:cNvPicPr preferRelativeResize="0"/>
          <p:nvPr/>
        </p:nvPicPr>
        <p:blipFill rotWithShape="1">
          <a:blip r:embed="rId6">
            <a:alphaModFix/>
          </a:blip>
          <a:srcRect b="24122" l="18243" r="7530" t="27915"/>
          <a:stretch/>
        </p:blipFill>
        <p:spPr>
          <a:xfrm>
            <a:off x="670113" y="1119140"/>
            <a:ext cx="7803773" cy="32643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grpSp>
        <p:nvGrpSpPr>
          <p:cNvPr id="173" name="Google Shape;173;p15"/>
          <p:cNvGrpSpPr/>
          <p:nvPr/>
        </p:nvGrpSpPr>
        <p:grpSpPr>
          <a:xfrm>
            <a:off x="352015" y="326760"/>
            <a:ext cx="841249" cy="422523"/>
            <a:chOff x="3824939" y="392811"/>
            <a:chExt cx="1522624" cy="764747"/>
          </a:xfrm>
        </p:grpSpPr>
        <p:pic>
          <p:nvPicPr>
            <p:cNvPr id="174" name="Google Shape;174;p15"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75" name="Google Shape;175;p15"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76" name="Google Shape;176;p15"/>
          <p:cNvPicPr preferRelativeResize="0"/>
          <p:nvPr/>
        </p:nvPicPr>
        <p:blipFill rotWithShape="1">
          <a:blip r:embed="rId6">
            <a:alphaModFix/>
          </a:blip>
          <a:srcRect b="26745" l="17637" r="6802" t="28852"/>
          <a:stretch/>
        </p:blipFill>
        <p:spPr>
          <a:xfrm>
            <a:off x="743464" y="1451728"/>
            <a:ext cx="7657072" cy="29128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grpSp>
        <p:nvGrpSpPr>
          <p:cNvPr id="181" name="Google Shape;181;p16"/>
          <p:cNvGrpSpPr/>
          <p:nvPr/>
        </p:nvGrpSpPr>
        <p:grpSpPr>
          <a:xfrm>
            <a:off x="352015" y="326760"/>
            <a:ext cx="841249" cy="422523"/>
            <a:chOff x="3824939" y="392811"/>
            <a:chExt cx="1522624" cy="764747"/>
          </a:xfrm>
        </p:grpSpPr>
        <p:pic>
          <p:nvPicPr>
            <p:cNvPr id="182" name="Google Shape;182;p16"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83" name="Google Shape;183;p16"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84" name="Google Shape;184;p16"/>
          <p:cNvPicPr preferRelativeResize="0"/>
          <p:nvPr/>
        </p:nvPicPr>
        <p:blipFill rotWithShape="1">
          <a:blip r:embed="rId6">
            <a:alphaModFix/>
          </a:blip>
          <a:srcRect b="26932" l="17516" r="7166" t="26230"/>
          <a:stretch/>
        </p:blipFill>
        <p:spPr>
          <a:xfrm>
            <a:off x="591250" y="1168924"/>
            <a:ext cx="7961499" cy="32051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grpSp>
        <p:nvGrpSpPr>
          <p:cNvPr id="189" name="Google Shape;189;p17"/>
          <p:cNvGrpSpPr/>
          <p:nvPr/>
        </p:nvGrpSpPr>
        <p:grpSpPr>
          <a:xfrm>
            <a:off x="352015" y="326760"/>
            <a:ext cx="841249" cy="422523"/>
            <a:chOff x="3824939" y="392811"/>
            <a:chExt cx="1522624" cy="764747"/>
          </a:xfrm>
        </p:grpSpPr>
        <p:pic>
          <p:nvPicPr>
            <p:cNvPr id="190" name="Google Shape;190;p17"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191" name="Google Shape;191;p17"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192" name="Google Shape;192;p17"/>
          <p:cNvPicPr preferRelativeResize="0"/>
          <p:nvPr/>
        </p:nvPicPr>
        <p:blipFill rotWithShape="1">
          <a:blip r:embed="rId6">
            <a:alphaModFix/>
          </a:blip>
          <a:srcRect b="34614" l="48930" r="8742" t="22857"/>
          <a:stretch/>
        </p:blipFill>
        <p:spPr>
          <a:xfrm>
            <a:off x="4298359" y="1282358"/>
            <a:ext cx="4564871" cy="2969129"/>
          </a:xfrm>
          <a:prstGeom prst="rect">
            <a:avLst/>
          </a:prstGeom>
          <a:noFill/>
          <a:ln>
            <a:noFill/>
          </a:ln>
        </p:spPr>
      </p:pic>
      <p:pic>
        <p:nvPicPr>
          <p:cNvPr id="193" name="Google Shape;193;p17"/>
          <p:cNvPicPr preferRelativeResize="0"/>
          <p:nvPr/>
        </p:nvPicPr>
        <p:blipFill rotWithShape="1">
          <a:blip r:embed="rId6">
            <a:alphaModFix/>
          </a:blip>
          <a:srcRect b="34614" l="8213" r="56251" t="22857"/>
          <a:stretch/>
        </p:blipFill>
        <p:spPr>
          <a:xfrm>
            <a:off x="258569" y="1282359"/>
            <a:ext cx="3832400" cy="29691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grpSp>
        <p:nvGrpSpPr>
          <p:cNvPr id="198" name="Google Shape;198;p18"/>
          <p:cNvGrpSpPr/>
          <p:nvPr/>
        </p:nvGrpSpPr>
        <p:grpSpPr>
          <a:xfrm>
            <a:off x="352015" y="326760"/>
            <a:ext cx="841249" cy="422523"/>
            <a:chOff x="3824939" y="392811"/>
            <a:chExt cx="1522624" cy="764747"/>
          </a:xfrm>
        </p:grpSpPr>
        <p:pic>
          <p:nvPicPr>
            <p:cNvPr id="199" name="Google Shape;199;p18" title="Asset 6.png"/>
            <p:cNvPicPr preferRelativeResize="0"/>
            <p:nvPr/>
          </p:nvPicPr>
          <p:blipFill rotWithShape="1">
            <a:blip r:embed="rId4">
              <a:alphaModFix/>
            </a:blip>
            <a:srcRect b="0" l="0" r="0" t="0"/>
            <a:stretch/>
          </p:blipFill>
          <p:spPr>
            <a:xfrm>
              <a:off x="3824939" y="434633"/>
              <a:ext cx="681103" cy="681103"/>
            </a:xfrm>
            <a:prstGeom prst="rect">
              <a:avLst/>
            </a:prstGeom>
            <a:noFill/>
            <a:ln>
              <a:noFill/>
            </a:ln>
          </p:spPr>
        </p:pic>
        <p:pic>
          <p:nvPicPr>
            <p:cNvPr id="200" name="Google Shape;200;p18" title="Asset 4.png"/>
            <p:cNvPicPr preferRelativeResize="0"/>
            <p:nvPr/>
          </p:nvPicPr>
          <p:blipFill rotWithShape="1">
            <a:blip r:embed="rId5">
              <a:alphaModFix/>
            </a:blip>
            <a:srcRect b="0" l="0" r="0" t="0"/>
            <a:stretch/>
          </p:blipFill>
          <p:spPr>
            <a:xfrm>
              <a:off x="4618664" y="392811"/>
              <a:ext cx="728899" cy="764747"/>
            </a:xfrm>
            <a:prstGeom prst="rect">
              <a:avLst/>
            </a:prstGeom>
            <a:noFill/>
            <a:ln>
              <a:noFill/>
            </a:ln>
          </p:spPr>
        </p:pic>
      </p:grpSp>
      <p:pic>
        <p:nvPicPr>
          <p:cNvPr id="201" name="Google Shape;201;p18"/>
          <p:cNvPicPr preferRelativeResize="0"/>
          <p:nvPr/>
        </p:nvPicPr>
        <p:blipFill rotWithShape="1">
          <a:blip r:embed="rId6">
            <a:alphaModFix/>
          </a:blip>
          <a:srcRect b="48888" l="15525" r="61623" t="31101"/>
          <a:stretch/>
        </p:blipFill>
        <p:spPr>
          <a:xfrm>
            <a:off x="2147535" y="696892"/>
            <a:ext cx="1949926" cy="1105398"/>
          </a:xfrm>
          <a:prstGeom prst="rect">
            <a:avLst/>
          </a:prstGeom>
          <a:noFill/>
          <a:ln>
            <a:noFill/>
          </a:ln>
          <a:effectLst>
            <a:outerShdw blurRad="292100" rotWithShape="0" algn="tl" dir="2700000" dist="139700">
              <a:srgbClr val="333333">
                <a:alpha val="65098"/>
              </a:srgbClr>
            </a:outerShdw>
          </a:effectLst>
        </p:spPr>
      </p:pic>
      <p:pic>
        <p:nvPicPr>
          <p:cNvPr id="202" name="Google Shape;202;p18"/>
          <p:cNvPicPr preferRelativeResize="0"/>
          <p:nvPr/>
        </p:nvPicPr>
        <p:blipFill rotWithShape="1">
          <a:blip r:embed="rId7">
            <a:alphaModFix/>
          </a:blip>
          <a:srcRect b="49586" l="9886" r="56397" t="32429"/>
          <a:stretch/>
        </p:blipFill>
        <p:spPr>
          <a:xfrm>
            <a:off x="1288570" y="3500513"/>
            <a:ext cx="2877010" cy="993499"/>
          </a:xfrm>
          <a:prstGeom prst="rect">
            <a:avLst/>
          </a:prstGeom>
          <a:noFill/>
          <a:ln>
            <a:noFill/>
          </a:ln>
          <a:effectLst>
            <a:outerShdw blurRad="292100" rotWithShape="0" algn="tl" dir="2700000" dist="139700">
              <a:srgbClr val="333333">
                <a:alpha val="65098"/>
              </a:srgbClr>
            </a:outerShdw>
          </a:effectLst>
        </p:spPr>
      </p:pic>
      <p:pic>
        <p:nvPicPr>
          <p:cNvPr id="203" name="Google Shape;203;p18"/>
          <p:cNvPicPr preferRelativeResize="0"/>
          <p:nvPr/>
        </p:nvPicPr>
        <p:blipFill rotWithShape="1">
          <a:blip r:embed="rId8">
            <a:alphaModFix/>
          </a:blip>
          <a:srcRect b="49382" l="15839" r="60510" t="27761"/>
          <a:stretch/>
        </p:blipFill>
        <p:spPr>
          <a:xfrm>
            <a:off x="2079416" y="2020116"/>
            <a:ext cx="2018045" cy="1262571"/>
          </a:xfrm>
          <a:prstGeom prst="rect">
            <a:avLst/>
          </a:prstGeom>
          <a:noFill/>
          <a:ln>
            <a:noFill/>
          </a:ln>
          <a:effectLst>
            <a:outerShdw blurRad="292100" rotWithShape="0" algn="tl" dir="2700000" dist="139700">
              <a:srgbClr val="333333">
                <a:alpha val="65098"/>
              </a:srgbClr>
            </a:outerShdw>
          </a:effectLst>
        </p:spPr>
      </p:pic>
      <p:pic>
        <p:nvPicPr>
          <p:cNvPr id="204" name="Google Shape;204;p18"/>
          <p:cNvPicPr preferRelativeResize="0"/>
          <p:nvPr/>
        </p:nvPicPr>
        <p:blipFill rotWithShape="1">
          <a:blip r:embed="rId9">
            <a:alphaModFix/>
          </a:blip>
          <a:srcRect b="48888" l="59117" r="12139" t="34286"/>
          <a:stretch/>
        </p:blipFill>
        <p:spPr>
          <a:xfrm>
            <a:off x="4411715" y="2177289"/>
            <a:ext cx="2916959" cy="1105398"/>
          </a:xfrm>
          <a:prstGeom prst="rect">
            <a:avLst/>
          </a:prstGeom>
          <a:noFill/>
          <a:ln>
            <a:noFill/>
          </a:ln>
          <a:effectLst>
            <a:outerShdw blurRad="292100" rotWithShape="0" algn="tl" dir="2700000" dist="139700">
              <a:srgbClr val="333333">
                <a:alpha val="65098"/>
              </a:srgbClr>
            </a:outerShdw>
          </a:effectLst>
        </p:spPr>
      </p:pic>
      <p:pic>
        <p:nvPicPr>
          <p:cNvPr id="205" name="Google Shape;205;p18"/>
          <p:cNvPicPr preferRelativeResize="0"/>
          <p:nvPr/>
        </p:nvPicPr>
        <p:blipFill rotWithShape="1">
          <a:blip r:embed="rId7">
            <a:alphaModFix/>
          </a:blip>
          <a:srcRect b="51869" l="55853" r="11038" t="32991"/>
          <a:stretch/>
        </p:blipFill>
        <p:spPr>
          <a:xfrm>
            <a:off x="4411715" y="3500513"/>
            <a:ext cx="3456548" cy="1023233"/>
          </a:xfrm>
          <a:prstGeom prst="rect">
            <a:avLst/>
          </a:prstGeom>
          <a:noFill/>
          <a:ln>
            <a:noFill/>
          </a:ln>
          <a:effectLst>
            <a:outerShdw blurRad="292100" rotWithShape="0" algn="tl" dir="2700000" dist="139700">
              <a:srgbClr val="333333">
                <a:alpha val="65098"/>
              </a:srgbClr>
            </a:outerShdw>
          </a:effectLst>
        </p:spPr>
      </p:pic>
      <p:pic>
        <p:nvPicPr>
          <p:cNvPr id="206" name="Google Shape;206;p18"/>
          <p:cNvPicPr preferRelativeResize="0"/>
          <p:nvPr/>
        </p:nvPicPr>
        <p:blipFill rotWithShape="1">
          <a:blip r:embed="rId8">
            <a:alphaModFix/>
          </a:blip>
          <a:srcRect b="49194" l="62291" r="15999" t="25513"/>
          <a:stretch/>
        </p:blipFill>
        <p:spPr>
          <a:xfrm>
            <a:off x="4411715" y="577633"/>
            <a:ext cx="1852462" cy="1397109"/>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p19"/>
          <p:cNvSpPr txBox="1"/>
          <p:nvPr/>
        </p:nvSpPr>
        <p:spPr>
          <a:xfrm>
            <a:off x="1203450" y="2200550"/>
            <a:ext cx="6737100" cy="127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 sz="3600" u="none" cap="none" strike="noStrike">
                <a:solidFill>
                  <a:srgbClr val="EEFAF6"/>
                </a:solidFill>
                <a:latin typeface="Montserrat"/>
                <a:ea typeface="Montserrat"/>
                <a:cs typeface="Montserrat"/>
                <a:sym typeface="Montserrat"/>
              </a:rPr>
              <a:t>Maraming Salamat po!</a:t>
            </a:r>
            <a:endParaRPr b="1" i="0" sz="3600" u="none" cap="none" strike="noStrike">
              <a:solidFill>
                <a:srgbClr val="EEFAF6"/>
              </a:solidFill>
              <a:latin typeface="Montserrat"/>
              <a:ea typeface="Montserrat"/>
              <a:cs typeface="Montserrat"/>
              <a:sym typeface="Montserrat"/>
            </a:endParaRPr>
          </a:p>
        </p:txBody>
      </p:sp>
      <p:pic>
        <p:nvPicPr>
          <p:cNvPr id="212" name="Google Shape;212;p19" title="DOH Logo.png"/>
          <p:cNvPicPr preferRelativeResize="0"/>
          <p:nvPr/>
        </p:nvPicPr>
        <p:blipFill rotWithShape="1">
          <a:blip r:embed="rId4">
            <a:alphaModFix/>
          </a:blip>
          <a:srcRect b="0" l="0" r="0" t="0"/>
          <a:stretch/>
        </p:blipFill>
        <p:spPr>
          <a:xfrm>
            <a:off x="3797875" y="434775"/>
            <a:ext cx="702799" cy="702799"/>
          </a:xfrm>
          <a:prstGeom prst="rect">
            <a:avLst/>
          </a:prstGeom>
          <a:noFill/>
          <a:ln>
            <a:noFill/>
          </a:ln>
        </p:spPr>
      </p:pic>
      <p:pic>
        <p:nvPicPr>
          <p:cNvPr id="213" name="Google Shape;213;p19" title="bagong-pilipinas white.png"/>
          <p:cNvPicPr preferRelativeResize="0"/>
          <p:nvPr/>
        </p:nvPicPr>
        <p:blipFill rotWithShape="1">
          <a:blip r:embed="rId5">
            <a:alphaModFix/>
          </a:blip>
          <a:srcRect b="0" l="0" r="0" t="0"/>
          <a:stretch/>
        </p:blipFill>
        <p:spPr>
          <a:xfrm>
            <a:off x="4616964" y="395396"/>
            <a:ext cx="734134" cy="764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